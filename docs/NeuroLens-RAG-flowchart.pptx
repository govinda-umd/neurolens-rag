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8" r:id="rId19"/>
    <p:sldId id="261" r:id="rId12"/>
    <p:sldId id="262" r:id="rId13"/>
    <p:sldId id="263" r:id="rId14"/>
    <p:sldId id="264" r:id="rId15"/>
    <p:sldId id="265" r:id="rId16"/>
    <p:sldId id="269" r:id="rId20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NeuroLens-RAG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CADCFC"/>
                </a:solidFill>
                <a:latin typeface="Calibri"/>
              </a:rPr>
              <a:t>From raw motor-cortex signal to a literature-checked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A6C9"/>
                </a:solidFill>
                <a:latin typeface="Calibri"/>
              </a:rPr>
              <a:t>Data  →  Representation Learning  →  Interpretability  →  Literature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E7295"/>
                </a:solidFill>
                <a:latin typeface="Calibri"/>
              </a:rPr>
              <a:t>End-to-end system report  ·  2026-08-27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5A80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B2A44"/>
                </a:solidFill>
                <a:latin typeface="Cambria"/>
              </a:rPr>
              <a:t>Does the model depend on the concept, or just correlate with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966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1">
                <a:solidFill>
                  <a:srgbClr val="1B2A44"/>
                </a:solidFill>
                <a:latin typeface="Cambria"/>
              </a:rPr>
              <a:t>“Accuracy alone can’t tell you whether a decoder learned something</a:t>
            </a:r>
          </a:p>
          <a:p>
            <a:pPr algn="l">
              <a:lnSpc>
                <a:spcPct val="125000"/>
              </a:lnSpc>
            </a:pPr>
            <a:r>
              <a:rPr sz="1900" b="0" i="1">
                <a:solidFill>
                  <a:srgbClr val="1B2A44"/>
                </a:solidFill>
                <a:latin typeface="Cambria"/>
              </a:rPr>
              <a:t>neurobiologically real or an incidental shortcut correlated with the label.”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29000"/>
            <a:ext cx="3337560" cy="1737360"/>
          </a:xfrm>
          <a:prstGeom prst="roundRect">
            <a:avLst>
              <a:gd name="adj" fmla="val 6000"/>
            </a:avLst>
          </a:prstGeom>
          <a:solidFill>
            <a:srgbClr val="F3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935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B8842E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8736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4"/>
                </a:solidFill>
                <a:latin typeface="Calibri"/>
              </a:rPr>
              <a:t>Train three 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453128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1607A"/>
                </a:solidFill>
                <a:latin typeface="Calibri"/>
              </a:rPr>
              <a:t>Same task, three structurally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1607A"/>
                </a:solidFill>
                <a:latin typeface="Calibri"/>
              </a:rPr>
              <a:t>different training objectives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06240" y="4297680"/>
            <a:ext cx="320040" cy="0"/>
          </a:xfrm>
          <a:prstGeom prst="line">
            <a:avLst/>
          </a:prstGeom>
          <a:ln w="2222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3429000"/>
            <a:ext cx="3337560" cy="1737360"/>
          </a:xfrm>
          <a:prstGeom prst="roundRect">
            <a:avLst>
              <a:gd name="adj" fmla="val 6000"/>
            </a:avLst>
          </a:prstGeom>
          <a:solidFill>
            <a:srgbClr val="DC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5935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7A70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08736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4"/>
                </a:solidFill>
                <a:latin typeface="Calibri"/>
              </a:rPr>
              <a:t>Test what it depends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453128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1607A"/>
                </a:solidFill>
                <a:latin typeface="Calibri"/>
              </a:rPr>
              <a:t>CAV/TCAV concept probes +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1607A"/>
                </a:solidFill>
                <a:latin typeface="Calibri"/>
              </a:rPr>
              <a:t>input attribution, not just accuracy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80" y="4297680"/>
            <a:ext cx="320039" cy="0"/>
          </a:xfrm>
          <a:prstGeom prst="line">
            <a:avLst/>
          </a:prstGeom>
          <a:ln w="2222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21040" y="3429000"/>
            <a:ext cx="3337560" cy="1737360"/>
          </a:xfrm>
          <a:prstGeom prst="roundRect">
            <a:avLst>
              <a:gd name="adj" fmla="val 6000"/>
            </a:avLst>
          </a:prstGeom>
          <a:solidFill>
            <a:srgbClr val="F3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5935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A5453A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08736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4"/>
                </a:solidFill>
                <a:latin typeface="Calibri"/>
              </a:rPr>
              <a:t>Check against literature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453128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1607A"/>
                </a:solidFill>
                <a:latin typeface="Calibri"/>
              </a:rPr>
              <a:t>Claims mined from real papers,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1607A"/>
                </a:solidFill>
                <a:latin typeface="Calibri"/>
              </a:rPr>
              <a:t>verified against the model itself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5A80"/>
                </a:solidFill>
                <a:latin typeface="Calibri"/>
              </a:rPr>
              <a:t>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4"/>
                </a:solidFill>
                <a:latin typeface="Cambria"/>
              </a:rPr>
              <a:t>Data: HCP MOTOR task fMRI, windowed causally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468880" cy="109728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D5A80"/>
                </a:solidFill>
                <a:latin typeface="Calibri"/>
              </a:rPr>
              <a:t>HCP Young Adult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3D5A80"/>
                </a:solidFill>
                <a:latin typeface="Calibri"/>
              </a:rPr>
              <a:t>MOTOR task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3D5A80"/>
                </a:solidFill>
                <a:latin typeface="Calibri"/>
              </a:rPr>
              <a:t>100 subjects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0" y="2240280"/>
            <a:ext cx="594360" cy="0"/>
          </a:xfrm>
          <a:prstGeom prst="line">
            <a:avLst/>
          </a:prstGeom>
          <a:ln w="2540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11880" y="1691640"/>
            <a:ext cx="2880360" cy="109728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D5A80"/>
                </a:solidFill>
                <a:latin typeface="Calibri"/>
              </a:rPr>
              <a:t>300-ROI time series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D5A80"/>
                </a:solidFill>
                <a:latin typeface="Calibri"/>
              </a:rPr>
              <a:t>(Schaefer-300 parcellation)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D5A80"/>
                </a:solidFill>
                <a:latin typeface="Calibri"/>
              </a:rPr>
              <a:t>windowed: 32 TRs, stride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92240" y="2240280"/>
            <a:ext cx="594360" cy="0"/>
          </a:xfrm>
          <a:prstGeom prst="line">
            <a:avLst/>
          </a:prstGeom>
          <a:ln w="2540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086600" y="1691640"/>
            <a:ext cx="2011680" cy="1097280"/>
          </a:xfrm>
          <a:prstGeom prst="round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One window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32 × 300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92440" y="2788920"/>
            <a:ext cx="0" cy="411480"/>
          </a:xfrm>
          <a:prstGeom prst="line">
            <a:avLst/>
          </a:prstGeom>
          <a:ln w="2222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26679" y="3200400"/>
            <a:ext cx="2834640" cy="0"/>
          </a:xfrm>
          <a:prstGeom prst="line">
            <a:avLst/>
          </a:prstGeom>
          <a:ln w="22225">
            <a:solidFill>
              <a:srgbClr val="51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26679" y="3200400"/>
            <a:ext cx="0" cy="320040"/>
          </a:xfrm>
          <a:prstGeom prst="line">
            <a:avLst/>
          </a:prstGeom>
          <a:ln w="2222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61319" y="3200400"/>
            <a:ext cx="0" cy="320040"/>
          </a:xfrm>
          <a:prstGeom prst="line">
            <a:avLst/>
          </a:prstGeom>
          <a:ln w="2222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3520440"/>
            <a:ext cx="2651760" cy="960120"/>
          </a:xfrm>
          <a:prstGeom prst="roundRect">
            <a:avLst/>
          </a:prstGeom>
          <a:solidFill>
            <a:srgbClr val="F3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>y:  6-way label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(baseline, L/R hand,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L/R foot, tongue)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3520440"/>
            <a:ext cx="2468880" cy="960120"/>
          </a:xfrm>
          <a:prstGeom prst="roundRect">
            <a:avLst/>
          </a:prstGeom>
          <a:solidFill>
            <a:srgbClr val="DC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>y_hrf:  5-ch continuous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HRF-convolved event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1607A"/>
                </a:solidFill>
                <a:latin typeface="Calibri"/>
              </a:rPr>
              <a:t>Two supervisory signals per window, read at its last timepoint — the same two signals the three representation-learning paradigms below use in entirely different ways. Splits are always subject-level, never window-level: overlapping windows from one subject are near-duplicates and would leak across a split.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5A80"/>
                </a:solidFill>
                <a:latin typeface="Calibri"/>
              </a:rPr>
              <a:t>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B2A44"/>
                </a:solidFill>
                <a:latin typeface="Cambria"/>
              </a:rPr>
              <a:t>Three paradigms, one shared backbone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371600"/>
            <a:ext cx="5029200" cy="77724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Shared backbone: GRU or Transformer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forward_features(x)  →  128-d pooled representation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2148840"/>
            <a:ext cx="0" cy="182880"/>
          </a:xfrm>
          <a:prstGeom prst="line">
            <a:avLst/>
          </a:prstGeom>
          <a:ln w="2540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2331720"/>
            <a:ext cx="8503920" cy="0"/>
          </a:xfrm>
          <a:prstGeom prst="line">
            <a:avLst/>
          </a:prstGeom>
          <a:ln w="22225">
            <a:solidFill>
              <a:srgbClr val="51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28900" y="2331720"/>
            <a:ext cx="0" cy="411480"/>
          </a:xfrm>
          <a:prstGeom prst="line">
            <a:avLst/>
          </a:prstGeom>
          <a:ln w="25400">
            <a:solidFill>
              <a:srgbClr val="B884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05840" y="2743200"/>
            <a:ext cx="3246120" cy="502920"/>
          </a:xfrm>
          <a:prstGeom prst="roundRect">
            <a:avLst/>
          </a:prstGeom>
          <a:solidFill>
            <a:srgbClr val="B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Case 1 — Supervised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91839"/>
            <a:ext cx="3246120" cy="1417320"/>
          </a:xfrm>
          <a:prstGeom prst="roundRect">
            <a:avLst/>
          </a:prstGeom>
          <a:solidFill>
            <a:srgbClr val="F3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Multi-task decoder: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6-way classifier + HRF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regression, one trunk.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846320"/>
            <a:ext cx="32461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8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8842E"/>
                </a:solidFill>
                <a:latin typeface="Calibri"/>
              </a:rPr>
              <a:t>CE + 0.1·MSE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77940" y="2331720"/>
            <a:ext cx="0" cy="411480"/>
          </a:xfrm>
          <a:prstGeom prst="line">
            <a:avLst/>
          </a:prstGeom>
          <a:ln w="25400">
            <a:solidFill>
              <a:srgbClr val="6A5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79" y="2743200"/>
            <a:ext cx="3246120" cy="502920"/>
          </a:xfrm>
          <a:prstGeom prst="roundRect">
            <a:avLst/>
          </a:prstGeom>
          <a:solidFill>
            <a:srgbClr val="6A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Case 2 — Contrastive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79" y="3291839"/>
            <a:ext cx="3246120" cy="1417320"/>
          </a:xfrm>
          <a:prstGeom prst="roundRect">
            <a:avLst/>
          </a:prstGeom>
          <a:solidFill>
            <a:srgbClr val="E9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Brain encoder aligned to 6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frozen-MiniLM text prototypes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in a shared 64-d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79" y="4846320"/>
            <a:ext cx="32461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A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A54A6"/>
                </a:solidFill>
                <a:latin typeface="Calibri"/>
              </a:rPr>
              <a:t>symmetric multi-positive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26980" y="2331720"/>
            <a:ext cx="0" cy="411480"/>
          </a:xfrm>
          <a:prstGeom prst="line">
            <a:avLst/>
          </a:prstGeom>
          <a:ln w="25400">
            <a:solidFill>
              <a:srgbClr val="1F7A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03919" y="2743200"/>
            <a:ext cx="3246120" cy="502920"/>
          </a:xfrm>
          <a:prstGeom prst="roundRect">
            <a:avLst/>
          </a:prstGeom>
          <a:solidFill>
            <a:srgbClr val="1F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Case 3 — Self-supervised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19" y="3291839"/>
            <a:ext cx="3246120" cy="1417320"/>
          </a:xfrm>
          <a:prstGeom prst="roundRect">
            <a:avLst/>
          </a:prstGeom>
          <a:solidFill>
            <a:srgbClr val="DC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Brain encoder aligned to its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OWN window's HRF vector.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No label enters this loss.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19" y="4846320"/>
            <a:ext cx="32461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7A70"/>
                </a:solidFill>
                <a:latin typeface="Calibri"/>
              </a:rPr>
              <a:t>symmetric InfoNCE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1607A"/>
                </a:solidFill>
                <a:latin typeface="Calibri"/>
              </a:rPr>
              <a:t>Every backbone exposes the same interface — this is why the same CAV/TCAV code runs on all three unchanged.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5A80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4"/>
                </a:solidFill>
                <a:latin typeface="Cambria"/>
              </a:rPr>
              <a:t>The architecture ranking flips by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920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4"/>
                </a:solidFill>
                <a:latin typeface="Calibri"/>
              </a:rPr>
              <a:t>GRU mean F1 (95% 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920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4"/>
                </a:solidFill>
                <a:latin typeface="Calibri"/>
              </a:rPr>
              <a:t>Transformer mean F1 (95% CI)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920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4"/>
                </a:solidFill>
                <a:latin typeface="Calibri"/>
              </a:rPr>
              <a:t>Winner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0607040" cy="594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9631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4"/>
                </a:solidFill>
                <a:latin typeface="Calibri"/>
              </a:rPr>
              <a:t>Case 1  (supervised)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4963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0.906  [0.876, 0.931]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4963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0.922  [0.902, 0.945]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4505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5A80"/>
                </a:solidFill>
                <a:latin typeface="Calibri"/>
              </a:rPr>
              <a:t>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72491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1607A"/>
                </a:solidFill>
                <a:latin typeface="Calibri"/>
              </a:rPr>
              <a:t>p &lt; 0.0001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06070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8211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4"/>
                </a:solidFill>
                <a:latin typeface="Calibri"/>
              </a:rPr>
              <a:t>Case 2  (contrastive)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1821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0.900  [0.866, 0.927]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1821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0.918  [0.898, 0.942]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31363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5A80"/>
                </a:solidFill>
                <a:latin typeface="Calibri"/>
              </a:rPr>
              <a:t>Transformer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41071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1607A"/>
                </a:solidFill>
                <a:latin typeface="Calibri"/>
              </a:rPr>
              <a:t>p &lt; 0.0001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49039"/>
            <a:ext cx="10607040" cy="594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67911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4"/>
                </a:solidFill>
                <a:latin typeface="Calibri"/>
              </a:rPr>
              <a:t>Case 3  (self-supervised)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867911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0.928  [0.903, 0.946]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867911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0.922  [0.903, 0.944]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82219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70"/>
                </a:solidFill>
                <a:latin typeface="Calibri"/>
              </a:rPr>
              <a:t>GRU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09651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1607A"/>
                </a:solidFill>
                <a:latin typeface="Calibri"/>
              </a:rPr>
              <a:t>p = 0.0004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177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44"/>
                </a:solidFill>
                <a:latin typeface="Calibri"/>
              </a:rPr>
              <a:t>Transformer wins whenever a label drives training directly (Cases 1–2). GRU edges ahead in the one paradigm that never sees a label at all (Case 3). Not a fixed ranking — paired resamples, same 30 subject splits across all three cases, backbones parameter-matched to 1.15×.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5453A"/>
                </a:solidFill>
                <a:latin typeface="Calibri"/>
              </a:rPr>
              <a:t>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4"/>
                </a:solidFill>
                <a:latin typeface="Cambria"/>
              </a:rPr>
              <a:t>CAV/TCAV: does the decision depend on the concept?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291840" cy="594360"/>
          </a:xfrm>
          <a:prstGeom prst="roundRect">
            <a:avLst/>
          </a:prstGeom>
          <a:solidFill>
            <a:srgbClr val="F3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B2A44"/>
                </a:solidFill>
                <a:latin typeface="Calibri"/>
              </a:rPr>
              <a:t>1.  Labeled examples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B2A44"/>
                </a:solidFill>
                <a:latin typeface="Calibri"/>
              </a:rPr>
              <a:t>(concept present vs. absent)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371600"/>
            <a:ext cx="3291840" cy="594360"/>
          </a:xfrm>
          <a:prstGeom prst="roundRect">
            <a:avLst/>
          </a:prstGeom>
          <a:solidFill>
            <a:srgbClr val="F3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B2A44"/>
                </a:solidFill>
                <a:latin typeface="Calibri"/>
              </a:rPr>
              <a:t>4.  Held-out target-class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B2A44"/>
                </a:solidFill>
                <a:latin typeface="Calibri"/>
              </a:rPr>
              <a:t>examples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965960"/>
            <a:ext cx="0" cy="228600"/>
          </a:xfrm>
          <a:prstGeom prst="line">
            <a:avLst/>
          </a:prstGeom>
          <a:ln w="1905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738360" y="1965960"/>
            <a:ext cx="0" cy="228600"/>
          </a:xfrm>
          <a:prstGeom prst="line">
            <a:avLst/>
          </a:prstGeom>
          <a:ln w="1905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194560"/>
            <a:ext cx="3291840" cy="594360"/>
          </a:xfrm>
          <a:prstGeom prst="roundRect">
            <a:avLst/>
          </a:prstGeom>
          <a:solidFill>
            <a:srgbClr val="F3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B2A44"/>
                </a:solidFill>
                <a:latin typeface="Calibri"/>
              </a:rPr>
              <a:t>2.  Linear probe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B2A44"/>
                </a:solidFill>
                <a:latin typeface="Calibri"/>
              </a:rPr>
              <a:t>(logistic regression on pooled 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194560"/>
            <a:ext cx="3291840" cy="594360"/>
          </a:xfrm>
          <a:prstGeom prst="roundRect">
            <a:avLst/>
          </a:prstGeom>
          <a:solidFill>
            <a:srgbClr val="F3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B2A44"/>
                </a:solidFill>
                <a:latin typeface="Calibri"/>
              </a:rPr>
              <a:t>5.  Gradient of target-class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B2A44"/>
                </a:solidFill>
                <a:latin typeface="Calibri"/>
              </a:rPr>
              <a:t>logit w.r.t. 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788920"/>
            <a:ext cx="0" cy="228600"/>
          </a:xfrm>
          <a:prstGeom prst="line">
            <a:avLst/>
          </a:prstGeom>
          <a:ln w="1905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017520"/>
            <a:ext cx="3291840" cy="594360"/>
          </a:xfrm>
          <a:prstGeom prst="roundRect">
            <a:avLst/>
          </a:prstGeom>
          <a:solidFill>
            <a:srgbClr val="B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3.  CAV direction  v_C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(normalized probe weight vector)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3314700"/>
            <a:ext cx="365760" cy="822960"/>
          </a:xfrm>
          <a:prstGeom prst="line">
            <a:avLst/>
          </a:prstGeom>
          <a:ln w="1905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80760" y="2788920"/>
            <a:ext cx="3657600" cy="1051560"/>
          </a:xfrm>
          <a:prstGeom prst="line">
            <a:avLst/>
          </a:prstGeom>
          <a:ln w="1905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80560" y="3840480"/>
            <a:ext cx="3200400" cy="59436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6.  Directional derivative  =  gradient · v_C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709160"/>
            <a:ext cx="6858000" cy="777240"/>
          </a:xfrm>
          <a:prstGeom prst="roundRect">
            <a:avLst>
              <a:gd name="adj" fmla="val 8000"/>
            </a:avLst>
          </a:prstGeom>
          <a:solidFill>
            <a:srgbClr val="A5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TCAV score  =  fraction of held-out examples where that derivative is positive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4434840"/>
            <a:ext cx="0" cy="274320"/>
          </a:xfrm>
          <a:prstGeom prst="line">
            <a:avLst/>
          </a:prstGeom>
          <a:ln w="2222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7150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1607A"/>
                </a:solidFill>
                <a:latin typeface="Calibri"/>
              </a:rPr>
              <a:t>A genuine local sensitivity measure within the model's own function — stronger than correlation, not the same strength as a real intervention.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5453A"/>
                </a:solidFill>
                <a:latin typeface="Calibri"/>
              </a:rPr>
              <a:t>A DIAGNOSED ARTIFACT, NOT A REAL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4"/>
                </a:solidFill>
                <a:latin typeface="Cambria"/>
              </a:rPr>
              <a:t>Case 2's “weak laterality” was the derivation method, not the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548640"/>
          </a:xfrm>
          <a:prstGeom prst="roundRect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BEFORE  ·  text-arithmetic CAV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EC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0603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1607A"/>
                </a:solidFill>
                <a:latin typeface="Calibri"/>
              </a:rPr>
              <a:t>TCAV, right/left laterality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6B7280"/>
                </a:solidFill>
                <a:latin typeface="Cambria"/>
              </a:rPr>
              <a:t>≈ 0.33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862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1607A"/>
                </a:solidFill>
                <a:latin typeface="Calibri"/>
              </a:rPr>
              <a:t>Looked like a real weakness specific to the contrastive representation.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37360"/>
            <a:ext cx="5212080" cy="548640"/>
          </a:xfrm>
          <a:prstGeom prst="roundRect">
            <a:avLst/>
          </a:prstGeom>
          <a:solidFill>
            <a:srgbClr val="A5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AFTER  ·  fitted post-hoc classifier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286000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F3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3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A44"/>
                </a:solidFill>
                <a:latin typeface="Calibri"/>
              </a:rPr>
              <a:t>TCAV, same concepts, same method as Case 1/3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A5453A"/>
                </a:solidFill>
                <a:latin typeface="Cambria"/>
              </a:rPr>
              <a:t>0.92 – 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8862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2A44"/>
                </a:solidFill>
                <a:latin typeface="Calibri"/>
              </a:rPr>
              <a:t>Indistinguishable from Case 1 and Case 3. Probe accuracy 0.997–0.999.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97880" y="3108960"/>
            <a:ext cx="411480" cy="0"/>
          </a:xfrm>
          <a:prstGeom prst="line">
            <a:avLst/>
          </a:prstGeom>
          <a:ln w="31750">
            <a:solidFill>
              <a:srgbClr val="A545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4892040"/>
            <a:ext cx="10927080" cy="1188720"/>
          </a:xfrm>
          <a:prstGeom prst="roundRect">
            <a:avLst>
              <a:gd name="adj" fmla="val 6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2A44"/>
                </a:solidFill>
                <a:latin typeface="Calibri"/>
              </a:rPr>
              <a:t>Diagnosed via a controlled experiment: fitting a linear probe on Case 2's frozen features the exact same way as Case 1/3 recovered near-ceiling TCAV. Root cause: MiniLM's embedding geometry is dominated by the concrete noun (hand/foot/tongue), fighting the weaker, secondary laterality axis. Now the standard mechanism for every 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5453A"/>
                </a:solidFill>
                <a:latin typeface="Calibri"/>
              </a:rPr>
              <a:t>LITERATURE VERIFICATION,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4"/>
                </a:solidFill>
                <a:latin typeface="Cambria"/>
              </a:rPr>
              <a:t>Two tracks: verify one decode, or mine the whole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5A80"/>
                </a:solidFill>
                <a:latin typeface="Calibri"/>
              </a:rPr>
              <a:t>QUERY-FIRST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481328" cy="7772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2A44"/>
                </a:solidFill>
                <a:latin typeface="Calibri"/>
              </a:rPr>
              <a:t>Decode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21408" y="2125979"/>
            <a:ext cx="109728" cy="0"/>
          </a:xfrm>
          <a:prstGeom prst="line">
            <a:avLst/>
          </a:prstGeom>
          <a:ln w="1587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31136" y="1737360"/>
            <a:ext cx="1481328" cy="7772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2A44"/>
                </a:solidFill>
                <a:latin typeface="Calibri"/>
              </a:rPr>
              <a:t>Attribution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12464" y="2125979"/>
            <a:ext cx="109728" cy="0"/>
          </a:xfrm>
          <a:prstGeom prst="line">
            <a:avLst/>
          </a:prstGeom>
          <a:ln w="1587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22192" y="1737360"/>
            <a:ext cx="1481328" cy="7772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2A44"/>
                </a:solidFill>
                <a:latin typeface="Calibri"/>
              </a:rPr>
              <a:t>Query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0" y="2125979"/>
            <a:ext cx="109728" cy="0"/>
          </a:xfrm>
          <a:prstGeom prst="line">
            <a:avLst/>
          </a:prstGeom>
          <a:ln w="1587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13248" y="1737360"/>
            <a:ext cx="1481328" cy="7772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2A44"/>
                </a:solidFill>
                <a:latin typeface="Calibri"/>
              </a:rPr>
              <a:t>Retrieve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4"/>
                </a:solidFill>
                <a:latin typeface="Calibri"/>
              </a:rPr>
              <a:t>+ rerank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94576" y="2125979"/>
            <a:ext cx="109728" cy="0"/>
          </a:xfrm>
          <a:prstGeom prst="line">
            <a:avLst/>
          </a:prstGeom>
          <a:ln w="1587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04304" y="1737360"/>
            <a:ext cx="1481328" cy="7772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2A44"/>
                </a:solidFill>
                <a:latin typeface="Calibri"/>
              </a:rPr>
              <a:t>LLM stance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4"/>
                </a:solidFill>
                <a:latin typeface="Calibri"/>
              </a:rPr>
              <a:t>+ claim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85632" y="2125979"/>
            <a:ext cx="109728" cy="0"/>
          </a:xfrm>
          <a:prstGeom prst="line">
            <a:avLst/>
          </a:prstGeom>
          <a:ln w="1587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95360" y="1737360"/>
            <a:ext cx="1481328" cy="7772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2A44"/>
                </a:solidFill>
                <a:latin typeface="Calibri"/>
              </a:rPr>
              <a:t>CAV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4"/>
                </a:solidFill>
                <a:latin typeface="Calibri"/>
              </a:rPr>
              <a:t>re-probe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76688" y="2125979"/>
            <a:ext cx="109727" cy="0"/>
          </a:xfrm>
          <a:prstGeom prst="line">
            <a:avLst/>
          </a:prstGeom>
          <a:ln w="1587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86416" y="1737360"/>
            <a:ext cx="1481328" cy="777240"/>
          </a:xfrm>
          <a:prstGeom prst="roundRect">
            <a:avLst/>
          </a:prstGeom>
          <a:solidFill>
            <a:srgbClr val="A5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03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5A80"/>
                </a:solidFill>
                <a:latin typeface="Calibri"/>
              </a:rPr>
              <a:t>CORPUS-FIRST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2514600" cy="7772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B2A44"/>
                </a:solidFill>
                <a:latin typeface="Calibri"/>
              </a:rPr>
              <a:t>Whole corpus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B2A44"/>
                </a:solidFill>
                <a:latin typeface="Calibri"/>
              </a:rPr>
              <a:t>(10 papers)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54680" y="3589020"/>
            <a:ext cx="182880" cy="0"/>
          </a:xfrm>
          <a:prstGeom prst="line">
            <a:avLst/>
          </a:prstGeom>
          <a:ln w="1587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37560" y="3200400"/>
            <a:ext cx="2514600" cy="7772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B2A44"/>
                </a:solidFill>
                <a:latin typeface="Calibri"/>
              </a:rPr>
              <a:t>Keyword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B2A44"/>
                </a:solidFill>
                <a:latin typeface="Calibri"/>
              </a:rPr>
              <a:t>pre-filter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52160" y="3589020"/>
            <a:ext cx="182880" cy="0"/>
          </a:xfrm>
          <a:prstGeom prst="line">
            <a:avLst/>
          </a:prstGeom>
          <a:ln w="1587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35040" y="3200400"/>
            <a:ext cx="2514600" cy="7772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B2A44"/>
                </a:solidFill>
                <a:latin typeface="Calibri"/>
              </a:rPr>
              <a:t>3× LLM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B2A44"/>
                </a:solidFill>
                <a:latin typeface="Calibri"/>
              </a:rPr>
              <a:t>extraction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49640" y="3589020"/>
            <a:ext cx="182880" cy="0"/>
          </a:xfrm>
          <a:prstGeom prst="line">
            <a:avLst/>
          </a:prstGeom>
          <a:ln w="1587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32520" y="3200400"/>
            <a:ext cx="2514600" cy="7772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B2A44"/>
                </a:solidFill>
                <a:latin typeface="Calibri"/>
              </a:rPr>
              <a:t>Self-consistent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B2A44"/>
                </a:solidFill>
                <a:latin typeface="Calibri"/>
              </a:rPr>
              <a:t>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34840"/>
            <a:ext cx="10927080" cy="1600200"/>
          </a:xfrm>
          <a:prstGeom prst="roundRect">
            <a:avLst>
              <a:gd name="adj" fmla="val 5000"/>
            </a:avLst>
          </a:prstGeom>
          <a:solidFill>
            <a:srgbClr val="F3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A44"/>
                </a:solidFill>
                <a:latin typeface="Calibri"/>
              </a:rPr>
              <a:t>The measured failure that shaped this whole design: an early version let the LLM freely judge AGREE / DISAGREE. It defaulted to AGREE in 10 of 12 real cases regardless of the actual TCAV score — sycophancy, measured, not hypothetical.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>Fix: the verdict is computed deterministically from (stance, TCAV score); the LLM's only job is to narrate an already-decided conclusion. Reached Case 2's loop — Case 1's still doesn't have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5453A"/>
                </a:solidFill>
                <a:latin typeface="Calibri"/>
              </a:rPr>
              <a:t>LITERATURE VERIFICATION,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4"/>
                </a:solidFill>
                <a:latin typeface="Cambria"/>
              </a:rPr>
              <a:t>Claim-first: mine claims, then find who depends on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120640" cy="1371600"/>
          </a:xfrm>
          <a:prstGeom prst="roundRect">
            <a:avLst/>
          </a:prstGeom>
          <a:solidFill>
            <a:srgbClr val="F3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>1.  Mine claims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Section-chunk the corpus → broad keyword filter → 3× self-consistent LLM 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120640" cy="1371600"/>
          </a:xfrm>
          <a:prstGeom prst="roundRect">
            <a:avLst/>
          </a:prstGeom>
          <a:solidFill>
            <a:srgbClr val="DC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>4.  Concept-attribution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Backprop h(x)·v_C — not a class logit — to the input, averaged over the held-out set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2834640"/>
            <a:ext cx="0" cy="228600"/>
          </a:xfrm>
          <a:prstGeom prst="line">
            <a:avLst/>
          </a:prstGeom>
          <a:ln w="1905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961120" y="2834640"/>
            <a:ext cx="0" cy="228600"/>
          </a:xfrm>
          <a:prstGeom prst="line">
            <a:avLst/>
          </a:prstGeom>
          <a:ln w="1905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3063240"/>
            <a:ext cx="5120640" cy="1371600"/>
          </a:xfrm>
          <a:prstGeom prst="roundRect">
            <a:avLst/>
          </a:prstGeom>
          <a:solidFill>
            <a:srgbClr val="F3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>2.  Soft concept mapping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Embed claim + each concept's reference text (MiniLM), cosine + softmax → weighted concepts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63240"/>
            <a:ext cx="5120640" cy="1371600"/>
          </a:xfrm>
          <a:prstGeom prst="roundRect">
            <a:avLst/>
          </a:prstGeom>
          <a:solidFill>
            <a:srgbClr val="DC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>5.  Second-pass retrieval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Query built from attribution + the original claim → retrieve + rerank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4434840"/>
            <a:ext cx="0" cy="228600"/>
          </a:xfrm>
          <a:prstGeom prst="line">
            <a:avLst/>
          </a:prstGeom>
          <a:ln w="1905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0" y="4434840"/>
            <a:ext cx="0" cy="228600"/>
          </a:xfrm>
          <a:prstGeom prst="line">
            <a:avLst/>
          </a:prstGeom>
          <a:ln w="19050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4663440"/>
            <a:ext cx="5120640" cy="1371600"/>
          </a:xfrm>
          <a:prstGeom prst="roundRect">
            <a:avLst/>
          </a:prstGeom>
          <a:solidFill>
            <a:srgbClr val="A5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3.  Population-level ranking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Rank all 6 representations across 30 real resamples — not a raw point-estimate 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663440"/>
            <a:ext cx="5120640" cy="1371600"/>
          </a:xfrm>
          <a:prstGeom prst="roundRect">
            <a:avLst/>
          </a:prstGeom>
          <a:solidFill>
            <a:srgbClr val="1F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6.  Grounded verdict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LLM must cite a real quote → verified in code → deterministic verdict → narration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760720" y="2148840"/>
            <a:ext cx="640080" cy="3200400"/>
          </a:xfrm>
          <a:prstGeom prst="line">
            <a:avLst/>
          </a:prstGeom>
          <a:ln w="22225">
            <a:solidFill>
              <a:srgbClr val="51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5453A"/>
                </a:solidFill>
                <a:latin typeface="Calibri"/>
              </a:rPr>
              <a:t>FOUND BY ACTUALLY RUNNING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4"/>
                </a:solidFill>
                <a:latin typeface="Cambria"/>
              </a:rPr>
              <a:t>Two bugs, caught because the sweep was run for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57800" cy="502920"/>
          </a:xfrm>
          <a:prstGeom prst="roundRect">
            <a:avLst/>
          </a:prstGeom>
          <a:solidFill>
            <a:srgbClr val="A5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Bug 1 — Stance sycophancy, relocated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257800" cy="1417320"/>
          </a:xfrm>
          <a:prstGeom prst="roundRect">
            <a:avLst/>
          </a:prstGeom>
          <a:solidFill>
            <a:srgbClr val="EC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>BEFORE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48 / 48 claims came back SUPPORTS — even a chunk the reranker itself scored −3.75 (clearly off-topic).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68980" y="3703320"/>
            <a:ext cx="0" cy="228600"/>
          </a:xfrm>
          <a:prstGeom prst="line">
            <a:avLst/>
          </a:prstGeom>
          <a:ln w="25400">
            <a:solidFill>
              <a:srgbClr val="A545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4023360"/>
            <a:ext cx="5257800" cy="1691640"/>
          </a:xfrm>
          <a:prstGeom prst="roundRect">
            <a:avLst/>
          </a:prstGeom>
          <a:solidFill>
            <a:srgbClr val="F3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B2A44"/>
                </a:solidFill>
                <a:latin typeface="Calibri"/>
              </a:rPr>
              <a:t>AFTER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>23 AGREE · 47 UNCLEAR (of 70, final)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>LLM must cite a verbatim quote; code verifies the quote is actually in the excerpt.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257800" cy="50292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Bug 2 — Representation “winner” was noise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257800" cy="1417320"/>
          </a:xfrm>
          <a:prstGeom prst="roundRect">
            <a:avLst/>
          </a:prstGeom>
          <a:solidFill>
            <a:srgbClr val="EC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>BEFORE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Case 1 / Transformer “won” 48 / 48 claims — every representation's mean TCAV sat in a 0.999–1.000 band.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38260" y="3703320"/>
            <a:ext cx="0" cy="228600"/>
          </a:xfrm>
          <a:prstGeom prst="line">
            <a:avLst/>
          </a:prstGeom>
          <a:ln w="25400">
            <a:solidFill>
              <a:srgbClr val="1B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60" y="4023360"/>
            <a:ext cx="5257800" cy="16916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B2A44"/>
                </a:solidFill>
                <a:latin typeface="Calibri"/>
              </a:rPr>
              <a:t>AFTER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>P(rank 1) ≈ 0.23 uniformly, tie rate ≈ 97%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>No representation is statistically distinguishable — reported honestly, not forced.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7A70"/>
                </a:solidFill>
                <a:latin typeface="Calibri"/>
              </a:rPr>
              <a:t>CONVERGENT 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4"/>
                </a:solidFill>
                <a:latin typeface="Cambria"/>
              </a:rPr>
              <a:t>Every representation points to the same network for the same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291840" cy="960120"/>
          </a:xfrm>
          <a:prstGeom prst="roundRect">
            <a:avLst/>
          </a:prstGeom>
          <a:solidFill>
            <a:srgbClr val="1F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mbria"/>
              </a:rPr>
              <a:t>6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1607A"/>
                </a:solidFill>
                <a:latin typeface="Calibri"/>
              </a:rPr>
              <a:t>representations agree on every one of the 8 tested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508760"/>
            <a:ext cx="3291840" cy="960120"/>
          </a:xfrm>
          <a:prstGeom prst="roundRect">
            <a:avLst/>
          </a:prstGeom>
          <a:solidFill>
            <a:srgbClr val="DC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1F7A70"/>
                </a:solidFill>
                <a:latin typeface="Cambria"/>
              </a:rPr>
              <a:t>≥ 0.994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6060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1607A"/>
                </a:solidFill>
                <a:latin typeface="Calibri"/>
              </a:rPr>
              <a:t>minimum cosine similarity across all 6 attribution vectors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08760"/>
            <a:ext cx="3886200" cy="960120"/>
          </a:xfrm>
          <a:prstGeom prst="roundRect">
            <a:avLst/>
          </a:prstGeom>
          <a:solidFill>
            <a:srgbClr val="F3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B8842E"/>
                </a:solidFill>
                <a:latin typeface="Cambria"/>
              </a:rPr>
              <a:t>Vis, not SomMot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0604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1607A"/>
                </a:solidFill>
                <a:latin typeface="Calibri"/>
              </a:rPr>
              <a:t>movement_vs_rest — unanimous, but not the “obvious”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10881360" cy="1417320"/>
          </a:xfrm>
          <a:prstGeom prst="roundRect">
            <a:avLst>
              <a:gd name="adj" fmla="val 5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2A44"/>
                </a:solidFill>
                <a:latin typeface="Calibri"/>
              </a:rPr>
              <a:t>Averaged over all 30 resamples, 3 paradigms × 2 architectures unanimously localize hand / foot / tongue / laterality / limb-orofacial / upper-vs-lower to SomMot — not just equally confident (TCAV), but pointing at the same input region (concept-attribution).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1607A"/>
                </a:solidFill>
                <a:latin typeface="Calibri"/>
              </a:rPr>
              <a:t>Not two separate surprises — one fact seen twice. HCP MOTOR's long, temporally well-separated blocks make the real anatomical signal strong and unambiguous, so any representation-learning approach sensitive to real signal finds the same ROIs, regardless of training objective.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A6C9"/>
                </a:solidFill>
                <a:latin typeface="Calibri"/>
              </a:rPr>
              <a:t>LIMITATIONS &amp;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Carried forward honestly, not hidden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020824"/>
            <a:ext cx="310896" cy="310896"/>
          </a:xfrm>
          <a:prstGeom prst="ellipse">
            <a:avLst/>
          </a:prstGeom>
          <a:solidFill>
            <a:srgbClr val="B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2082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Case 1's RAG loop is still unfixed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04872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7C4DA"/>
                </a:solidFill>
                <a:latin typeface="Calibri"/>
              </a:rPr>
              <a:t>Uses the older free-judgment verdict design — never re-measured at Case 2's scale.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82112"/>
            <a:ext cx="310896" cy="310896"/>
          </a:xfrm>
          <a:prstGeom prst="ellipse">
            <a:avLst/>
          </a:prstGeom>
          <a:solidFill>
            <a:srgbClr val="A5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8211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corpus is 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7C4DA"/>
                </a:solidFill>
                <a:latin typeface="Calibri"/>
              </a:rPr>
              <a:t>10 papers. Every retrieval and grounding result is bounded by this.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43399"/>
            <a:ext cx="310896" cy="310896"/>
          </a:xfrm>
          <a:prstGeom prst="ellipse">
            <a:avLst/>
          </a:prstGeom>
          <a:solidFill>
            <a:srgbClr val="6A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43399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§7's findings are conditioned on a clean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27448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7C4DA"/>
                </a:solidFill>
                <a:latin typeface="Calibri"/>
              </a:rPr>
              <a:t>Long, well-separated MOTOR blocks make convergence easy — a stated hypothesis, not yet stress-tested.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504688"/>
            <a:ext cx="310896" cy="310896"/>
          </a:xfrm>
          <a:prstGeom prst="ellipse">
            <a:avLst/>
          </a:prstGeom>
          <a:solidFill>
            <a:srgbClr val="1F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504688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Extension already underway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888736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7C4DA"/>
                </a:solidFill>
                <a:latin typeface="Calibri"/>
              </a:rPr>
              <a:t>174-subject movie + structural-connectivity pipeline complete, 0 failures — now its own repo, naturalistic-brain-dynamics.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5A80"/>
                </a:solidFill>
                <a:latin typeface="Calibri"/>
              </a:rPr>
              <a:t>BASELINE &amp; CONTROL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4"/>
                </a:solidFill>
                <a:latin typeface="Cambria"/>
              </a:rPr>
              <a:t>Does the model need what we think it needs?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920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4"/>
                </a:solidFill>
                <a:latin typeface="Calibri"/>
              </a:rPr>
              <a:t>Mean F1 (95% 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920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4"/>
                </a:solidFill>
                <a:latin typeface="Calibri"/>
              </a:rPr>
              <a:t>What it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920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4"/>
                </a:solidFill>
                <a:latin typeface="Calibri"/>
              </a:rPr>
              <a:t>Winner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0607040" cy="594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9631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4"/>
                </a:solidFill>
                <a:latin typeface="Calibri"/>
              </a:rPr>
              <a:t>FlattenMLP (flat 9,600-d, no time structure)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4963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0.907  [0.882, 0.933]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4963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Ties GRU (p=0.73)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4505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5A80"/>
                </a:solidFill>
                <a:latin typeface="Calibri"/>
              </a:rPr>
              <a:t>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72491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1607A"/>
                </a:solidFill>
                <a:latin typeface="Calibri"/>
              </a:rPr>
              <a:t>p &lt; 0.0001 (Transformer wins)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06070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8211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4"/>
                </a:solidFill>
                <a:latin typeface="Calibri"/>
              </a:rPr>
              <a:t>MeanPoolMLP (temporal info destroyed)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1821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0.654  [0.616, 0.694]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1821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Loses to GRU too (p &lt; 0.0001)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31363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5A80"/>
                </a:solidFill>
                <a:latin typeface="Calibri"/>
              </a:rPr>
              <a:t>Transformer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41071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1607A"/>
                </a:solidFill>
                <a:latin typeface="Calibri"/>
              </a:rPr>
              <a:t>p &lt; 0.0001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49039"/>
            <a:ext cx="10607040" cy="594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67911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4"/>
                </a:solidFill>
                <a:latin typeface="Calibri"/>
              </a:rPr>
              <a:t>Time-reversal (test time, no retraining)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867911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0.08 – 0.13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867911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1607A"/>
                </a:solidFill>
                <a:latin typeface="Calibri"/>
              </a:rPr>
              <a:t>Worst of all perturbations tested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82219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70"/>
                </a:solidFill>
                <a:latin typeface="Calibri"/>
              </a:rPr>
              <a:t>All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09651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1607A"/>
                </a:solidFill>
                <a:latin typeface="Calibri"/>
              </a:rPr>
              <a:t>configs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177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44"/>
                </a:solidFill>
                <a:latin typeface="Calibri"/>
              </a:rPr>
              <a:t>A flat MLP with zero learned temporal structure statistically ties GRU (p=0.73) once given the whole window — but the Transformer still beats that same flat MLP with 4× fewer parameters, real evidence attention finds structure recurrence and raw aggregation both miss. Reversing the sequence at test time causes near-total collapse across every trained model — temporal order clearly matters, just not in the way a simple GRU-vs-Transformer story implies.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5b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5453A"/>
                </a:solidFill>
                <a:latin typeface="Calibri"/>
              </a:rPr>
              <a:t>DECOMPOSING TWO 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4"/>
                </a:solidFill>
                <a:latin typeface="Cambria"/>
              </a:rPr>
              <a:t>Retrieval ladder and a formal precision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57800" cy="502920"/>
          </a:xfrm>
          <a:prstGeom prst="roundRect">
            <a:avLst/>
          </a:prstGeom>
          <a:solidFill>
            <a:srgbClr val="A5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Retrieval ablation ladder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257800" cy="1417320"/>
          </a:xfrm>
          <a:prstGeom prst="roundRect">
            <a:avLst/>
          </a:prstGeom>
          <a:solidFill>
            <a:srgbClr val="EC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>COMPONENTS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BM25 0.460 recall@1 • frozen MiniLM 0.460 (a tie!) • adapted MiniLM 0.500 • frozen+reranker 0.740 • adapted+reranker 0.740 • oracle 1.000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68980" y="3703320"/>
            <a:ext cx="0" cy="228600"/>
          </a:xfrm>
          <a:prstGeom prst="line">
            <a:avLst/>
          </a:prstGeom>
          <a:ln w="25400">
            <a:solidFill>
              <a:srgbClr val="A545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4023360"/>
            <a:ext cx="5257800" cy="1691640"/>
          </a:xfrm>
          <a:prstGeom prst="roundRect">
            <a:avLst/>
          </a:prstGeom>
          <a:solidFill>
            <a:srgbClr val="F3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B2A44"/>
                </a:solidFill>
                <a:latin typeface="Calibri"/>
              </a:rPr>
              <a:t>THE STORY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>Reranking, not fine-tuning, does most of the work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>Frozen MiniLM + reranker (0.740) already matches adapted + reranker — once reranking is in the loop, embedding fine-tuning barely moves the needle.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257800" cy="50292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Verification-stance precision audit (18-example self-labeled gold set)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257800" cy="1417320"/>
          </a:xfrm>
          <a:prstGeom prst="roundRect">
            <a:avLst/>
          </a:prstGeom>
          <a:solidFill>
            <a:srgbClr val="EC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B2A44"/>
                </a:solidFill>
                <a:latin typeface="Calibri"/>
              </a:rPr>
              <a:t>GROUNDING ALONE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B2A44"/>
                </a:solidFill>
                <a:latin typeface="Calibri"/>
              </a:rPr>
              <a:t>Accuracy 0.500, identical to free judgment — quote-grounding alone caught 0 of 4 related-but-insufficient cases.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38260" y="3703320"/>
            <a:ext cx="0" cy="228600"/>
          </a:xfrm>
          <a:prstGeom prst="line">
            <a:avLst/>
          </a:prstGeom>
          <a:ln w="25400">
            <a:solidFill>
              <a:srgbClr val="1B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60" y="4023360"/>
            <a:ext cx="5257800" cy="169164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B2A44"/>
                </a:solidFill>
                <a:latin typeface="Calibri"/>
              </a:rPr>
              <a:t>+ AXIS CHECK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>Accuracy 0.667, catches 4 of 4 — but CONTRADICTS recall drops 0.40→0.20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A44"/>
                </a:solidFill>
                <a:latin typeface="Calibri"/>
              </a:rPr>
              <a:t>A real tradeoff, not a free win: the axis-check trades sensitivity for specificity. Self-labeled, not independently blind-annotated.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NeuroLens-RAG end-to-end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97A8"/>
                </a:solidFill>
                <a:latin typeface="Calibri"/>
              </a:rPr>
              <a:t>10b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